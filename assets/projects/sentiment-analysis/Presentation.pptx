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Barlow ExtraLight"/>
      <p:regular r:id="rId24"/>
      <p:bold r:id="rId25"/>
      <p:italic r:id="rId26"/>
      <p:boldItalic r:id="rId27"/>
    </p:embeddedFont>
    <p:embeddedFont>
      <p:font typeface="Hepta Slab Medium"/>
      <p:regular r:id="rId28"/>
      <p:bold r:id="rId29"/>
    </p:embeddedFont>
    <p:embeddedFont>
      <p:font typeface="Hepta Slab Light"/>
      <p:regular r:id="rId30"/>
      <p:bold r:id="rId31"/>
    </p:embeddedFont>
    <p:embeddedFont>
      <p:font typeface="Hepta Slab"/>
      <p:regular r:id="rId32"/>
      <p:bold r:id="rId33"/>
    </p:embeddedFont>
    <p:embeddedFont>
      <p:font typeface="Barlow Medium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  <p:embeddedFont>
      <p:font typeface="Barlow Light"/>
      <p:regular r:id="rId42"/>
      <p:bold r:id="rId43"/>
      <p:italic r:id="rId44"/>
      <p:boldItalic r:id="rId45"/>
    </p:embeddedFont>
    <p:embeddedFont>
      <p:font typeface="Barlow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42" Type="http://schemas.openxmlformats.org/officeDocument/2006/relationships/font" Target="fonts/BarlowLight-regular.fntdata"/><Relationship Id="rId41" Type="http://schemas.openxmlformats.org/officeDocument/2006/relationships/font" Target="fonts/RobotoMono-boldItalic.fntdata"/><Relationship Id="rId44" Type="http://schemas.openxmlformats.org/officeDocument/2006/relationships/font" Target="fonts/BarlowLight-italic.fntdata"/><Relationship Id="rId43" Type="http://schemas.openxmlformats.org/officeDocument/2006/relationships/font" Target="fonts/BarlowLight-bold.fntdata"/><Relationship Id="rId46" Type="http://schemas.openxmlformats.org/officeDocument/2006/relationships/font" Target="fonts/Barlow-regular.fntdata"/><Relationship Id="rId45" Type="http://schemas.openxmlformats.org/officeDocument/2006/relationships/font" Target="fonts/BarlowLigh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arlow-italic.fntdata"/><Relationship Id="rId47" Type="http://schemas.openxmlformats.org/officeDocument/2006/relationships/font" Target="fonts/Barlow-bold.fntdata"/><Relationship Id="rId49" Type="http://schemas.openxmlformats.org/officeDocument/2006/relationships/font" Target="fonts/Barlow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ptaSlabLight-bold.fntdata"/><Relationship Id="rId30" Type="http://schemas.openxmlformats.org/officeDocument/2006/relationships/font" Target="fonts/HeptaSlabLight-regular.fntdata"/><Relationship Id="rId33" Type="http://schemas.openxmlformats.org/officeDocument/2006/relationships/font" Target="fonts/HeptaSlab-bold.fntdata"/><Relationship Id="rId32" Type="http://schemas.openxmlformats.org/officeDocument/2006/relationships/font" Target="fonts/HeptaSlab-regular.fntdata"/><Relationship Id="rId35" Type="http://schemas.openxmlformats.org/officeDocument/2006/relationships/font" Target="fonts/BarlowMedium-bold.fntdata"/><Relationship Id="rId34" Type="http://schemas.openxmlformats.org/officeDocument/2006/relationships/font" Target="fonts/BarlowMedium-regular.fntdata"/><Relationship Id="rId37" Type="http://schemas.openxmlformats.org/officeDocument/2006/relationships/font" Target="fonts/BarlowMedium-boldItalic.fntdata"/><Relationship Id="rId36" Type="http://schemas.openxmlformats.org/officeDocument/2006/relationships/font" Target="fonts/BarlowMedium-italic.fntdata"/><Relationship Id="rId39" Type="http://schemas.openxmlformats.org/officeDocument/2006/relationships/font" Target="fonts/RobotoMono-bold.fntdata"/><Relationship Id="rId38" Type="http://schemas.openxmlformats.org/officeDocument/2006/relationships/font" Target="fonts/RobotoMono-regular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BarlowExtraLight-regular.fntdata"/><Relationship Id="rId23" Type="http://schemas.openxmlformats.org/officeDocument/2006/relationships/slide" Target="slides/slide17.xml"/><Relationship Id="rId26" Type="http://schemas.openxmlformats.org/officeDocument/2006/relationships/font" Target="fonts/BarlowExtraLight-italic.fntdata"/><Relationship Id="rId25" Type="http://schemas.openxmlformats.org/officeDocument/2006/relationships/font" Target="fonts/BarlowExtraLight-bold.fntdata"/><Relationship Id="rId28" Type="http://schemas.openxmlformats.org/officeDocument/2006/relationships/font" Target="fonts/HeptaSlabMedium-regular.fntdata"/><Relationship Id="rId27" Type="http://schemas.openxmlformats.org/officeDocument/2006/relationships/font" Target="fonts/BarlowExtraLight-boldItalic.fntdata"/><Relationship Id="rId29" Type="http://schemas.openxmlformats.org/officeDocument/2006/relationships/font" Target="fonts/HeptaSlab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2760adb02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2760adb02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2760adb0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2760adb0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2760adb02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2760adb02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932fb2b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7932fb2b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27932fb2b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27932fb2b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2760adb02f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2760adb02f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2760adb02f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2760adb02f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27db5c6e1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27db5c6e1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2760adb02f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2760adb02f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2760adb02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2760adb02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27df5aa7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27df5aa7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2830800c3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2830800c3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2830800c3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2830800c3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7df5aa7f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27df5aa7f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27df5aa7f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27df5aa7f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2830800c3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2830800c3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2830800c3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2830800c3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7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13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5.png"/><Relationship Id="rId7" Type="http://schemas.openxmlformats.org/officeDocument/2006/relationships/image" Target="../media/image16.png"/><Relationship Id="rId8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Relationship Id="rId7" Type="http://schemas.openxmlformats.org/officeDocument/2006/relationships/image" Target="../media/image27.png"/><Relationship Id="rId8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5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rb.gy/ofdnmr" TargetMode="External"/><Relationship Id="rId4" Type="http://schemas.openxmlformats.org/officeDocument/2006/relationships/hyperlink" Target="https://rb.gy/8oehvg" TargetMode="External"/><Relationship Id="rId5" Type="http://schemas.openxmlformats.org/officeDocument/2006/relationships/hyperlink" Target="https://rb.gy/33g01a" TargetMode="External"/><Relationship Id="rId6" Type="http://schemas.openxmlformats.org/officeDocument/2006/relationships/hyperlink" Target="https://rb.gy/skvk2a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/>
              <a:t>Advanced Data Analytics Topics</a:t>
            </a:r>
            <a:endParaRPr sz="3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3400"/>
              <a:t>Semester Project</a:t>
            </a:r>
            <a:endParaRPr sz="3400"/>
          </a:p>
        </p:txBody>
      </p:sp>
      <p:sp>
        <p:nvSpPr>
          <p:cNvPr id="372" name="Google Shape;372;p59"/>
          <p:cNvSpPr txBox="1"/>
          <p:nvPr>
            <p:ph idx="1" type="body"/>
          </p:nvPr>
        </p:nvSpPr>
        <p:spPr>
          <a:xfrm>
            <a:off x="3602850" y="4250275"/>
            <a:ext cx="1855800" cy="169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EMMANOUIL GIANNAKIS E21022</a:t>
            </a:r>
            <a:endParaRPr/>
          </a:p>
        </p:txBody>
      </p:sp>
      <p:sp>
        <p:nvSpPr>
          <p:cNvPr id="373" name="Google Shape;373;p59"/>
          <p:cNvSpPr txBox="1"/>
          <p:nvPr>
            <p:ph idx="2" type="subTitle"/>
          </p:nvPr>
        </p:nvSpPr>
        <p:spPr>
          <a:xfrm>
            <a:off x="1086825" y="3047375"/>
            <a:ext cx="70335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2000"/>
              <a:t>Sentiment Analysis on  IMDB reviews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0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 Data Pre-Preprocessing</a:t>
            </a:r>
            <a:endParaRPr sz="3200"/>
          </a:p>
        </p:txBody>
      </p:sp>
      <p:sp>
        <p:nvSpPr>
          <p:cNvPr id="379" name="Google Shape;379;p60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Google Shape;384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850" y="180075"/>
            <a:ext cx="2986675" cy="223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450" y="614563"/>
            <a:ext cx="2599500" cy="16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61"/>
          <p:cNvSpPr/>
          <p:nvPr/>
        </p:nvSpPr>
        <p:spPr>
          <a:xfrm>
            <a:off x="3535925" y="1330175"/>
            <a:ext cx="2246100" cy="35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387" name="Google Shape;387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174" y="1148113"/>
            <a:ext cx="1653650" cy="18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61"/>
          <p:cNvPicPr preferRelativeResize="0"/>
          <p:nvPr/>
        </p:nvPicPr>
        <p:blipFill rotWithShape="1">
          <a:blip r:embed="rId6">
            <a:alphaModFix/>
          </a:blip>
          <a:srcRect b="0" l="3679" r="0" t="0"/>
          <a:stretch/>
        </p:blipFill>
        <p:spPr>
          <a:xfrm>
            <a:off x="217350" y="2947025"/>
            <a:ext cx="2908150" cy="20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61"/>
          <p:cNvSpPr txBox="1"/>
          <p:nvPr>
            <p:ph type="title"/>
          </p:nvPr>
        </p:nvSpPr>
        <p:spPr>
          <a:xfrm>
            <a:off x="939099" y="2605200"/>
            <a:ext cx="2186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Dataset Format</a:t>
            </a:r>
            <a:endParaRPr sz="1200"/>
          </a:p>
        </p:txBody>
      </p:sp>
      <p:cxnSp>
        <p:nvCxnSpPr>
          <p:cNvPr id="390" name="Google Shape;390;p61"/>
          <p:cNvCxnSpPr>
            <a:stCxn id="388" idx="3"/>
          </p:cNvCxnSpPr>
          <p:nvPr/>
        </p:nvCxnSpPr>
        <p:spPr>
          <a:xfrm flipH="1" rot="10800000">
            <a:off x="3125500" y="3943763"/>
            <a:ext cx="3402600" cy="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1" name="Google Shape;391;p61"/>
          <p:cNvSpPr txBox="1"/>
          <p:nvPr>
            <p:ph type="title"/>
          </p:nvPr>
        </p:nvSpPr>
        <p:spPr>
          <a:xfrm>
            <a:off x="4888050" y="3815075"/>
            <a:ext cx="2958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</a:t>
            </a:r>
            <a:endParaRPr sz="1200"/>
          </a:p>
        </p:txBody>
      </p:sp>
      <p:sp>
        <p:nvSpPr>
          <p:cNvPr id="392" name="Google Shape;392;p61"/>
          <p:cNvSpPr/>
          <p:nvPr/>
        </p:nvSpPr>
        <p:spPr>
          <a:xfrm>
            <a:off x="5314200" y="3815063"/>
            <a:ext cx="347100" cy="2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93" name="Google Shape;393;p61"/>
          <p:cNvSpPr/>
          <p:nvPr/>
        </p:nvSpPr>
        <p:spPr>
          <a:xfrm>
            <a:off x="4889050" y="3815075"/>
            <a:ext cx="347100" cy="26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94" name="Google Shape;394;p61"/>
          <p:cNvSpPr txBox="1"/>
          <p:nvPr>
            <p:ph type="title"/>
          </p:nvPr>
        </p:nvSpPr>
        <p:spPr>
          <a:xfrm>
            <a:off x="4914700" y="3815075"/>
            <a:ext cx="2958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</a:t>
            </a:r>
            <a:endParaRPr sz="1200"/>
          </a:p>
        </p:txBody>
      </p:sp>
      <p:sp>
        <p:nvSpPr>
          <p:cNvPr id="395" name="Google Shape;395;p61"/>
          <p:cNvSpPr txBox="1"/>
          <p:nvPr>
            <p:ph type="title"/>
          </p:nvPr>
        </p:nvSpPr>
        <p:spPr>
          <a:xfrm>
            <a:off x="5339850" y="3815050"/>
            <a:ext cx="2958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a</a:t>
            </a:r>
            <a:endParaRPr sz="1200"/>
          </a:p>
        </p:txBody>
      </p:sp>
      <p:pic>
        <p:nvPicPr>
          <p:cNvPr id="396" name="Google Shape;396;p61"/>
          <p:cNvPicPr preferRelativeResize="0"/>
          <p:nvPr/>
        </p:nvPicPr>
        <p:blipFill rotWithShape="1">
          <a:blip r:embed="rId7">
            <a:alphaModFix/>
          </a:blip>
          <a:srcRect b="8329" l="34020" r="24985" t="23397"/>
          <a:stretch/>
        </p:blipFill>
        <p:spPr>
          <a:xfrm>
            <a:off x="3931375" y="3612775"/>
            <a:ext cx="602593" cy="66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1"/>
          <p:cNvSpPr txBox="1"/>
          <p:nvPr>
            <p:ph type="title"/>
          </p:nvPr>
        </p:nvSpPr>
        <p:spPr>
          <a:xfrm>
            <a:off x="3371725" y="3440400"/>
            <a:ext cx="1489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Remove Punctuation</a:t>
            </a:r>
            <a:endParaRPr sz="700"/>
          </a:p>
        </p:txBody>
      </p:sp>
      <p:sp>
        <p:nvSpPr>
          <p:cNvPr id="398" name="Google Shape;398;p61"/>
          <p:cNvSpPr txBox="1"/>
          <p:nvPr>
            <p:ph type="title"/>
          </p:nvPr>
        </p:nvSpPr>
        <p:spPr>
          <a:xfrm>
            <a:off x="4533975" y="3440400"/>
            <a:ext cx="14892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Lowercasing</a:t>
            </a:r>
            <a:endParaRPr sz="700"/>
          </a:p>
        </p:txBody>
      </p:sp>
      <p:pic>
        <p:nvPicPr>
          <p:cNvPr id="399" name="Google Shape;399;p6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8100" y="3505060"/>
            <a:ext cx="2111850" cy="88461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61"/>
          <p:cNvSpPr txBox="1"/>
          <p:nvPr>
            <p:ph type="title"/>
          </p:nvPr>
        </p:nvSpPr>
        <p:spPr>
          <a:xfrm>
            <a:off x="6490824" y="3206550"/>
            <a:ext cx="2186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Model Training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2"/>
          <p:cNvSpPr txBox="1"/>
          <p:nvPr>
            <p:ph type="title"/>
          </p:nvPr>
        </p:nvSpPr>
        <p:spPr>
          <a:xfrm>
            <a:off x="778725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Data Preprocessing</a:t>
            </a:r>
            <a:endParaRPr sz="3200"/>
          </a:p>
        </p:txBody>
      </p:sp>
      <p:sp>
        <p:nvSpPr>
          <p:cNvPr id="406" name="Google Shape;406;p62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575" y="597325"/>
            <a:ext cx="1684501" cy="9607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3"/>
          <p:cNvSpPr txBox="1"/>
          <p:nvPr>
            <p:ph type="title"/>
          </p:nvPr>
        </p:nvSpPr>
        <p:spPr>
          <a:xfrm>
            <a:off x="1389425" y="700400"/>
            <a:ext cx="3564600" cy="9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Based on the analysis of  the ratio :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number per training samples / mean words per samples = 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1" lang="en" sz="900">
                <a:latin typeface="Arial"/>
                <a:ea typeface="Arial"/>
                <a:cs typeface="Arial"/>
                <a:sym typeface="Arial"/>
              </a:rPr>
              <a:t>Bag of Words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 Tokenization is going to perform better on the dataset.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400" y="2508025"/>
            <a:ext cx="2392250" cy="23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63"/>
          <p:cNvSpPr txBox="1"/>
          <p:nvPr>
            <p:ph type="title"/>
          </p:nvPr>
        </p:nvSpPr>
        <p:spPr>
          <a:xfrm>
            <a:off x="400525" y="1840650"/>
            <a:ext cx="2790000" cy="8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Creation of a </a:t>
            </a:r>
            <a:r>
              <a:rPr b="1" lang="en" sz="900">
                <a:latin typeface="Arial"/>
                <a:ea typeface="Arial"/>
                <a:cs typeface="Arial"/>
                <a:sym typeface="Arial"/>
              </a:rPr>
              <a:t>vocabulary 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of 20,000 most frequent words and maximum of 600 tokens per sequence.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63"/>
          <p:cNvSpPr/>
          <p:nvPr/>
        </p:nvSpPr>
        <p:spPr>
          <a:xfrm>
            <a:off x="3251288" y="3706200"/>
            <a:ext cx="1576500" cy="352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6" name="Google Shape;416;p63"/>
          <p:cNvSpPr txBox="1"/>
          <p:nvPr>
            <p:ph type="title"/>
          </p:nvPr>
        </p:nvSpPr>
        <p:spPr>
          <a:xfrm>
            <a:off x="3999825" y="2376375"/>
            <a:ext cx="4958400" cy="8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After tokenizing the text, we apply </a:t>
            </a:r>
            <a:r>
              <a:rPr b="1" lang="en" sz="900">
                <a:latin typeface="Arial"/>
                <a:ea typeface="Arial"/>
                <a:cs typeface="Arial"/>
                <a:sym typeface="Arial"/>
              </a:rPr>
              <a:t>multi-hot encoding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, representing each review as a binary vector. In this matrix, each word corresponds to a unique position, with multiple </a:t>
            </a:r>
            <a:r>
              <a:rPr lang="en" sz="900">
                <a:latin typeface="Roboto Mono"/>
                <a:ea typeface="Roboto Mono"/>
                <a:cs typeface="Roboto Mono"/>
                <a:sym typeface="Roboto Mono"/>
              </a:rPr>
              <a:t>1</a:t>
            </a:r>
            <a:r>
              <a:rPr lang="en" sz="900">
                <a:latin typeface="Arial"/>
                <a:ea typeface="Arial"/>
                <a:cs typeface="Arial"/>
                <a:sym typeface="Arial"/>
              </a:rPr>
              <a:t> indicating the presence of specific words across the document.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7" name="Google Shape;417;p6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7425" y="3217400"/>
            <a:ext cx="2306950" cy="146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6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5743" y="671775"/>
            <a:ext cx="3479201" cy="614672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3"/>
          <p:cNvSpPr txBox="1"/>
          <p:nvPr>
            <p:ph type="title"/>
          </p:nvPr>
        </p:nvSpPr>
        <p:spPr>
          <a:xfrm>
            <a:off x="5165675" y="1498400"/>
            <a:ext cx="3859800" cy="45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Arial"/>
                <a:ea typeface="Arial"/>
                <a:cs typeface="Arial"/>
                <a:sym typeface="Arial"/>
              </a:rPr>
              <a:t>This heuristic rule is based on a systematic analysis of the performance of various text classification techniques across many different types of text datasets by Francois Chollet in 2017.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4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25" name="Google Shape;425;p64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				Machine Learning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pport Vector Machines Svm Royalty-Free Images, Stock Photos &amp; Pictures |  Shutterstock" id="430" name="Google Shape;430;p65"/>
          <p:cNvPicPr preferRelativeResize="0"/>
          <p:nvPr/>
        </p:nvPicPr>
        <p:blipFill rotWithShape="1">
          <a:blip r:embed="rId3">
            <a:alphaModFix/>
          </a:blip>
          <a:srcRect b="5793" l="0" r="0" t="0"/>
          <a:stretch/>
        </p:blipFill>
        <p:spPr>
          <a:xfrm>
            <a:off x="353175" y="119850"/>
            <a:ext cx="774777" cy="7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65"/>
          <p:cNvSpPr txBox="1"/>
          <p:nvPr>
            <p:ph type="title"/>
          </p:nvPr>
        </p:nvSpPr>
        <p:spPr>
          <a:xfrm>
            <a:off x="1508700" y="336550"/>
            <a:ext cx="42156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Support Vector Machine(SVM) with RBF Kernel</a:t>
            </a:r>
            <a:endParaRPr sz="1200"/>
          </a:p>
        </p:txBody>
      </p:sp>
      <p:pic>
        <p:nvPicPr>
          <p:cNvPr id="432" name="Google Shape;43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5050" y="141787"/>
            <a:ext cx="883771" cy="66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65"/>
          <p:cNvSpPr txBox="1"/>
          <p:nvPr>
            <p:ph type="title"/>
          </p:nvPr>
        </p:nvSpPr>
        <p:spPr>
          <a:xfrm>
            <a:off x="743450" y="2990275"/>
            <a:ext cx="20160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Hyperparameters</a:t>
            </a:r>
            <a:endParaRPr sz="1200"/>
          </a:p>
        </p:txBody>
      </p:sp>
      <p:pic>
        <p:nvPicPr>
          <p:cNvPr id="434" name="Google Shape;434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2375" y="1785725"/>
            <a:ext cx="3435711" cy="28218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5"/>
          <p:cNvSpPr txBox="1"/>
          <p:nvPr>
            <p:ph type="title"/>
          </p:nvPr>
        </p:nvSpPr>
        <p:spPr>
          <a:xfrm>
            <a:off x="6208337" y="1423138"/>
            <a:ext cx="8838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Results</a:t>
            </a:r>
            <a:endParaRPr sz="1200"/>
          </a:p>
        </p:txBody>
      </p:sp>
      <p:pic>
        <p:nvPicPr>
          <p:cNvPr id="436" name="Google Shape;436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175" y="3393171"/>
            <a:ext cx="2375711" cy="12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6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8301" y="1818075"/>
            <a:ext cx="721350" cy="7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6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31025" y="1785737"/>
            <a:ext cx="883800" cy="7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65"/>
          <p:cNvSpPr txBox="1"/>
          <p:nvPr>
            <p:ph type="title"/>
          </p:nvPr>
        </p:nvSpPr>
        <p:spPr>
          <a:xfrm>
            <a:off x="342200" y="1257700"/>
            <a:ext cx="34719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Data Conversion from Folders to CSV</a:t>
            </a:r>
            <a:endParaRPr sz="1200"/>
          </a:p>
        </p:txBody>
      </p:sp>
      <p:cxnSp>
        <p:nvCxnSpPr>
          <p:cNvPr id="440" name="Google Shape;440;p65"/>
          <p:cNvCxnSpPr>
            <a:endCxn id="438" idx="1"/>
          </p:cNvCxnSpPr>
          <p:nvPr/>
        </p:nvCxnSpPr>
        <p:spPr>
          <a:xfrm flipH="1" rot="10800000">
            <a:off x="1472725" y="2178750"/>
            <a:ext cx="8583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6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46" name="Google Shape;446;p66"/>
          <p:cNvSpPr txBox="1"/>
          <p:nvPr>
            <p:ph type="title"/>
          </p:nvPr>
        </p:nvSpPr>
        <p:spPr>
          <a:xfrm>
            <a:off x="1753350" y="3077275"/>
            <a:ext cx="5637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Deep Learning</a:t>
            </a:r>
            <a:endParaRPr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7"/>
          <p:cNvSpPr txBox="1"/>
          <p:nvPr>
            <p:ph type="title"/>
          </p:nvPr>
        </p:nvSpPr>
        <p:spPr>
          <a:xfrm>
            <a:off x="377900" y="342725"/>
            <a:ext cx="3149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Bag of Words Models</a:t>
            </a:r>
            <a:endParaRPr sz="2000"/>
          </a:p>
        </p:txBody>
      </p:sp>
      <p:sp>
        <p:nvSpPr>
          <p:cNvPr id="452" name="Google Shape;452;p67"/>
          <p:cNvSpPr txBox="1"/>
          <p:nvPr>
            <p:ph type="title"/>
          </p:nvPr>
        </p:nvSpPr>
        <p:spPr>
          <a:xfrm>
            <a:off x="3657800" y="831500"/>
            <a:ext cx="16869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N-Gram approach</a:t>
            </a:r>
            <a:endParaRPr sz="1200"/>
          </a:p>
        </p:txBody>
      </p:sp>
      <p:pic>
        <p:nvPicPr>
          <p:cNvPr id="453" name="Google Shape;45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375" y="1661063"/>
            <a:ext cx="1431275" cy="1148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67"/>
          <p:cNvSpPr txBox="1"/>
          <p:nvPr>
            <p:ph type="title"/>
          </p:nvPr>
        </p:nvSpPr>
        <p:spPr>
          <a:xfrm>
            <a:off x="803925" y="1201400"/>
            <a:ext cx="1025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Unigram</a:t>
            </a:r>
            <a:endParaRPr sz="1200"/>
          </a:p>
        </p:txBody>
      </p:sp>
      <p:sp>
        <p:nvSpPr>
          <p:cNvPr id="455" name="Google Shape;455;p67"/>
          <p:cNvSpPr txBox="1"/>
          <p:nvPr>
            <p:ph type="title"/>
          </p:nvPr>
        </p:nvSpPr>
        <p:spPr>
          <a:xfrm>
            <a:off x="4015825" y="1201400"/>
            <a:ext cx="1025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Bigram</a:t>
            </a:r>
            <a:endParaRPr sz="1200"/>
          </a:p>
        </p:txBody>
      </p:sp>
      <p:sp>
        <p:nvSpPr>
          <p:cNvPr id="456" name="Google Shape;456;p67"/>
          <p:cNvSpPr txBox="1"/>
          <p:nvPr>
            <p:ph type="title"/>
          </p:nvPr>
        </p:nvSpPr>
        <p:spPr>
          <a:xfrm>
            <a:off x="6881575" y="1201400"/>
            <a:ext cx="1025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Trigram</a:t>
            </a:r>
            <a:endParaRPr sz="1200"/>
          </a:p>
        </p:txBody>
      </p:sp>
      <p:pic>
        <p:nvPicPr>
          <p:cNvPr id="457" name="Google Shape;457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375" y="3136850"/>
            <a:ext cx="1431276" cy="11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0100" y="1661075"/>
            <a:ext cx="1431275" cy="1148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0100" y="3080088"/>
            <a:ext cx="1431276" cy="1262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8488" y="1661075"/>
            <a:ext cx="1431275" cy="114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78487" y="3080088"/>
            <a:ext cx="1431276" cy="126208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67"/>
          <p:cNvSpPr txBox="1"/>
          <p:nvPr>
            <p:ph type="title"/>
          </p:nvPr>
        </p:nvSpPr>
        <p:spPr>
          <a:xfrm>
            <a:off x="3613741" y="4645175"/>
            <a:ext cx="16440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Overfitting!!!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7" name="Google Shape;467;p68"/>
          <p:cNvCxnSpPr/>
          <p:nvPr/>
        </p:nvCxnSpPr>
        <p:spPr>
          <a:xfrm>
            <a:off x="2094750" y="2182000"/>
            <a:ext cx="10800" cy="75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8" name="Google Shape;468;p68"/>
          <p:cNvSpPr/>
          <p:nvPr/>
        </p:nvSpPr>
        <p:spPr>
          <a:xfrm>
            <a:off x="1872300" y="2420725"/>
            <a:ext cx="455700" cy="22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469" name="Google Shape;469;p68"/>
          <p:cNvPicPr preferRelativeResize="0"/>
          <p:nvPr/>
        </p:nvPicPr>
        <p:blipFill rotWithShape="1">
          <a:blip r:embed="rId3">
            <a:alphaModFix/>
          </a:blip>
          <a:srcRect b="26472" l="0" r="0" t="30761"/>
          <a:stretch/>
        </p:blipFill>
        <p:spPr>
          <a:xfrm>
            <a:off x="680150" y="1350975"/>
            <a:ext cx="3307800" cy="760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8"/>
          <p:cNvSpPr txBox="1"/>
          <p:nvPr>
            <p:ph type="title"/>
          </p:nvPr>
        </p:nvSpPr>
        <p:spPr>
          <a:xfrm>
            <a:off x="377900" y="342725"/>
            <a:ext cx="3149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Sequence</a:t>
            </a:r>
            <a:r>
              <a:rPr lang="en" sz="2000"/>
              <a:t> Models</a:t>
            </a:r>
            <a:endParaRPr sz="2000"/>
          </a:p>
        </p:txBody>
      </p:sp>
      <p:pic>
        <p:nvPicPr>
          <p:cNvPr id="471" name="Google Shape;47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200" y="3034451"/>
            <a:ext cx="2385901" cy="1294699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8"/>
          <p:cNvSpPr txBox="1"/>
          <p:nvPr>
            <p:ph type="title"/>
          </p:nvPr>
        </p:nvSpPr>
        <p:spPr>
          <a:xfrm>
            <a:off x="657425" y="1005125"/>
            <a:ext cx="30705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Embedding Layer</a:t>
            </a:r>
            <a:r>
              <a:rPr lang="en" sz="1000"/>
              <a:t> for word vectorization</a:t>
            </a:r>
            <a:endParaRPr sz="1000"/>
          </a:p>
        </p:txBody>
      </p:sp>
      <p:sp>
        <p:nvSpPr>
          <p:cNvPr id="473" name="Google Shape;473;p68"/>
          <p:cNvSpPr txBox="1"/>
          <p:nvPr>
            <p:ph type="title"/>
          </p:nvPr>
        </p:nvSpPr>
        <p:spPr>
          <a:xfrm>
            <a:off x="337175" y="2389125"/>
            <a:ext cx="37110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Vectors are input to </a:t>
            </a: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Bidirectional</a:t>
            </a: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 LSTM</a:t>
            </a:r>
            <a:r>
              <a:rPr lang="en" sz="1000"/>
              <a:t> block</a:t>
            </a:r>
            <a:endParaRPr sz="1000"/>
          </a:p>
        </p:txBody>
      </p:sp>
      <p:cxnSp>
        <p:nvCxnSpPr>
          <p:cNvPr id="474" name="Google Shape;474;p68"/>
          <p:cNvCxnSpPr/>
          <p:nvPr/>
        </p:nvCxnSpPr>
        <p:spPr>
          <a:xfrm>
            <a:off x="4493075" y="507300"/>
            <a:ext cx="21600" cy="412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" name="Google Shape;475;p68"/>
          <p:cNvSpPr txBox="1"/>
          <p:nvPr>
            <p:ph type="title"/>
          </p:nvPr>
        </p:nvSpPr>
        <p:spPr>
          <a:xfrm>
            <a:off x="5720082" y="882150"/>
            <a:ext cx="21414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LSTM </a:t>
            </a:r>
            <a:r>
              <a:rPr lang="en" sz="1000"/>
              <a:t>architecture</a:t>
            </a:r>
            <a:endParaRPr sz="1000"/>
          </a:p>
        </p:txBody>
      </p:sp>
      <p:sp>
        <p:nvSpPr>
          <p:cNvPr id="476" name="Google Shape;476;p68"/>
          <p:cNvSpPr txBox="1"/>
          <p:nvPr>
            <p:ph type="title"/>
          </p:nvPr>
        </p:nvSpPr>
        <p:spPr>
          <a:xfrm>
            <a:off x="5285222" y="3387125"/>
            <a:ext cx="3011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Bidirectional : process sequence</a:t>
            </a:r>
            <a:endParaRPr sz="1000"/>
          </a:p>
        </p:txBody>
      </p:sp>
      <p:cxnSp>
        <p:nvCxnSpPr>
          <p:cNvPr id="477" name="Google Shape;477;p68"/>
          <p:cNvCxnSpPr/>
          <p:nvPr/>
        </p:nvCxnSpPr>
        <p:spPr>
          <a:xfrm>
            <a:off x="5632125" y="3965650"/>
            <a:ext cx="22896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8" name="Google Shape;478;p68"/>
          <p:cNvCxnSpPr/>
          <p:nvPr/>
        </p:nvCxnSpPr>
        <p:spPr>
          <a:xfrm rot="10800000">
            <a:off x="5632125" y="4329150"/>
            <a:ext cx="2268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9" name="Google Shape;479;p68"/>
          <p:cNvSpPr txBox="1"/>
          <p:nvPr>
            <p:ph type="title"/>
          </p:nvPr>
        </p:nvSpPr>
        <p:spPr>
          <a:xfrm>
            <a:off x="6174825" y="3716675"/>
            <a:ext cx="11826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forward</a:t>
            </a:r>
            <a:endParaRPr sz="1000"/>
          </a:p>
        </p:txBody>
      </p:sp>
      <p:sp>
        <p:nvSpPr>
          <p:cNvPr id="480" name="Google Shape;480;p68"/>
          <p:cNvSpPr txBox="1"/>
          <p:nvPr>
            <p:ph type="title"/>
          </p:nvPr>
        </p:nvSpPr>
        <p:spPr>
          <a:xfrm>
            <a:off x="6185625" y="4019600"/>
            <a:ext cx="11826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backward</a:t>
            </a:r>
            <a:endParaRPr sz="1000"/>
          </a:p>
        </p:txBody>
      </p:sp>
      <p:pic>
        <p:nvPicPr>
          <p:cNvPr id="481" name="Google Shape;481;p68"/>
          <p:cNvPicPr preferRelativeResize="0"/>
          <p:nvPr/>
        </p:nvPicPr>
        <p:blipFill rotWithShape="1">
          <a:blip r:embed="rId5">
            <a:alphaModFix/>
          </a:blip>
          <a:srcRect b="0" l="53373" r="0" t="0"/>
          <a:stretch/>
        </p:blipFill>
        <p:spPr>
          <a:xfrm>
            <a:off x="4829250" y="1265100"/>
            <a:ext cx="1280476" cy="1672774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68"/>
          <p:cNvSpPr txBox="1"/>
          <p:nvPr>
            <p:ph type="title"/>
          </p:nvPr>
        </p:nvSpPr>
        <p:spPr>
          <a:xfrm>
            <a:off x="6197225" y="1265100"/>
            <a:ext cx="2755500" cy="180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Gating mechanism</a:t>
            </a:r>
            <a:r>
              <a:rPr lang="en" sz="1000"/>
              <a:t> to manage information flow: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Input Gate: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Output Gate: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 sz="1000"/>
              <a:t>Forget Gate: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Hepta Slab"/>
                <a:ea typeface="Hepta Slab"/>
                <a:cs typeface="Hepta Slab"/>
                <a:sym typeface="Hepta Slab"/>
              </a:rPr>
              <a:t>Cell State</a:t>
            </a:r>
            <a:r>
              <a:rPr lang="en" sz="1000"/>
              <a:t>: Memory pipeline that </a:t>
            </a:r>
            <a:r>
              <a:rPr lang="en" sz="1000"/>
              <a:t>allows</a:t>
            </a:r>
            <a:r>
              <a:rPr lang="en" sz="1000"/>
              <a:t> model to </a:t>
            </a:r>
            <a:r>
              <a:rPr lang="en" sz="1000"/>
              <a:t>retrieve</a:t>
            </a:r>
            <a:r>
              <a:rPr lang="en" sz="1000"/>
              <a:t> long-term information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83" name="Google Shape;483;p68"/>
          <p:cNvSpPr txBox="1"/>
          <p:nvPr/>
        </p:nvSpPr>
        <p:spPr>
          <a:xfrm>
            <a:off x="-1545850" y="380700"/>
            <a:ext cx="41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9"/>
          <p:cNvSpPr txBox="1"/>
          <p:nvPr>
            <p:ph type="title"/>
          </p:nvPr>
        </p:nvSpPr>
        <p:spPr>
          <a:xfrm>
            <a:off x="377900" y="342725"/>
            <a:ext cx="3149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Sequence Models</a:t>
            </a:r>
            <a:endParaRPr sz="2000"/>
          </a:p>
        </p:txBody>
      </p:sp>
      <p:sp>
        <p:nvSpPr>
          <p:cNvPr id="489" name="Google Shape;489;p69"/>
          <p:cNvSpPr txBox="1"/>
          <p:nvPr/>
        </p:nvSpPr>
        <p:spPr>
          <a:xfrm>
            <a:off x="-1545850" y="380700"/>
            <a:ext cx="417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90" name="Google Shape;490;p69"/>
          <p:cNvSpPr txBox="1"/>
          <p:nvPr>
            <p:ph type="title"/>
          </p:nvPr>
        </p:nvSpPr>
        <p:spPr>
          <a:xfrm>
            <a:off x="535247" y="1477275"/>
            <a:ext cx="3011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Trainable Embeddings</a:t>
            </a:r>
            <a:endParaRPr sz="1000"/>
          </a:p>
        </p:txBody>
      </p:sp>
      <p:sp>
        <p:nvSpPr>
          <p:cNvPr id="491" name="Google Shape;491;p69"/>
          <p:cNvSpPr txBox="1"/>
          <p:nvPr>
            <p:ph type="title"/>
          </p:nvPr>
        </p:nvSpPr>
        <p:spPr>
          <a:xfrm>
            <a:off x="3635700" y="940000"/>
            <a:ext cx="16869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Results</a:t>
            </a:r>
            <a:endParaRPr sz="1300"/>
          </a:p>
        </p:txBody>
      </p:sp>
      <p:sp>
        <p:nvSpPr>
          <p:cNvPr id="492" name="Google Shape;492;p69"/>
          <p:cNvSpPr txBox="1"/>
          <p:nvPr>
            <p:ph type="title"/>
          </p:nvPr>
        </p:nvSpPr>
        <p:spPr>
          <a:xfrm>
            <a:off x="5473072" y="1477275"/>
            <a:ext cx="3011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Pretrained GloVe </a:t>
            </a:r>
            <a:r>
              <a:rPr lang="en" sz="1000"/>
              <a:t>Embeddings</a:t>
            </a:r>
            <a:endParaRPr sz="1000"/>
          </a:p>
        </p:txBody>
      </p:sp>
      <p:pic>
        <p:nvPicPr>
          <p:cNvPr id="493" name="Google Shape;49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225" y="1917800"/>
            <a:ext cx="1512450" cy="1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224" y="3355600"/>
            <a:ext cx="1512450" cy="1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1000" y="1926250"/>
            <a:ext cx="1512450" cy="1196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8800" y="1917800"/>
            <a:ext cx="1512450" cy="12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11000" y="3418300"/>
            <a:ext cx="1512451" cy="117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8800" y="3418300"/>
            <a:ext cx="1512450" cy="117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0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4" name="Google Shape;504;p70"/>
          <p:cNvSpPr txBox="1"/>
          <p:nvPr>
            <p:ph type="title"/>
          </p:nvPr>
        </p:nvSpPr>
        <p:spPr>
          <a:xfrm>
            <a:off x="1753350" y="3077275"/>
            <a:ext cx="5637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Results</a:t>
            </a:r>
            <a:endParaRPr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71"/>
          <p:cNvSpPr txBox="1"/>
          <p:nvPr>
            <p:ph type="title"/>
          </p:nvPr>
        </p:nvSpPr>
        <p:spPr>
          <a:xfrm>
            <a:off x="492000" y="641075"/>
            <a:ext cx="8160000" cy="8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training was done using  a NVIDIA A100 GPU available through Google Colab.</a:t>
            </a:r>
            <a:endParaRPr sz="1600"/>
          </a:p>
        </p:txBody>
      </p:sp>
      <p:pic>
        <p:nvPicPr>
          <p:cNvPr id="510" name="Google Shape;510;p71"/>
          <p:cNvPicPr preferRelativeResize="0"/>
          <p:nvPr/>
        </p:nvPicPr>
        <p:blipFill rotWithShape="1">
          <a:blip r:embed="rId3">
            <a:alphaModFix/>
          </a:blip>
          <a:srcRect b="9035" l="4791" r="5986" t="11568"/>
          <a:stretch/>
        </p:blipFill>
        <p:spPr>
          <a:xfrm>
            <a:off x="892888" y="1874550"/>
            <a:ext cx="6917676" cy="139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1"/>
          <p:cNvSpPr txBox="1"/>
          <p:nvPr>
            <p:ph type="title"/>
          </p:nvPr>
        </p:nvSpPr>
        <p:spPr>
          <a:xfrm>
            <a:off x="409525" y="3560575"/>
            <a:ext cx="8455200" cy="81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SVM showed a robust Confusion Matrix correctly classifying most test cases. Also the prediction time was much faster than the rest of the models due to its computationally efficient architecture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72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17" name="Google Shape;517;p72"/>
          <p:cNvSpPr txBox="1"/>
          <p:nvPr>
            <p:ph type="title"/>
          </p:nvPr>
        </p:nvSpPr>
        <p:spPr>
          <a:xfrm>
            <a:off x="1753350" y="3077275"/>
            <a:ext cx="5637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App</a:t>
            </a:r>
            <a:endParaRPr sz="3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73"/>
          <p:cNvPicPr preferRelativeResize="0"/>
          <p:nvPr/>
        </p:nvPicPr>
        <p:blipFill rotWithShape="1">
          <a:blip r:embed="rId3">
            <a:alphaModFix/>
          </a:blip>
          <a:srcRect b="3446" l="0" r="0" t="0"/>
          <a:stretch/>
        </p:blipFill>
        <p:spPr>
          <a:xfrm>
            <a:off x="391150" y="1742100"/>
            <a:ext cx="3372700" cy="211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500" y="1742100"/>
            <a:ext cx="3372699" cy="21109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4" name="Google Shape;524;p73"/>
          <p:cNvCxnSpPr>
            <a:stCxn id="522" idx="3"/>
            <a:endCxn id="523" idx="1"/>
          </p:cNvCxnSpPr>
          <p:nvPr/>
        </p:nvCxnSpPr>
        <p:spPr>
          <a:xfrm>
            <a:off x="3763850" y="2797600"/>
            <a:ext cx="1564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73"/>
          <p:cNvSpPr txBox="1"/>
          <p:nvPr>
            <p:ph type="title"/>
          </p:nvPr>
        </p:nvSpPr>
        <p:spPr>
          <a:xfrm>
            <a:off x="3801500" y="2510500"/>
            <a:ext cx="1432500" cy="2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Hover Mouse </a:t>
            </a:r>
            <a:endParaRPr sz="700"/>
          </a:p>
        </p:txBody>
      </p:sp>
      <p:sp>
        <p:nvSpPr>
          <p:cNvPr id="526" name="Google Shape;526;p73"/>
          <p:cNvSpPr txBox="1"/>
          <p:nvPr>
            <p:ph type="title"/>
          </p:nvPr>
        </p:nvSpPr>
        <p:spPr>
          <a:xfrm>
            <a:off x="391150" y="581450"/>
            <a:ext cx="3149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Hepta Slab"/>
                <a:ea typeface="Hepta Slab"/>
                <a:cs typeface="Hepta Slab"/>
                <a:sym typeface="Hepta Slab"/>
              </a:rPr>
              <a:t>Home Page</a:t>
            </a:r>
            <a:endParaRPr b="1" sz="2000"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125" y="1611875"/>
            <a:ext cx="3042949" cy="1919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975" y="499282"/>
            <a:ext cx="3042949" cy="19046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74"/>
          <p:cNvCxnSpPr>
            <a:stCxn id="531" idx="3"/>
            <a:endCxn id="532" idx="1"/>
          </p:cNvCxnSpPr>
          <p:nvPr/>
        </p:nvCxnSpPr>
        <p:spPr>
          <a:xfrm flipH="1" rot="10800000">
            <a:off x="3610074" y="1451550"/>
            <a:ext cx="1455000" cy="11202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4" name="Google Shape;534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4975" y="2739613"/>
            <a:ext cx="3042949" cy="1904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5" name="Google Shape;535;p74"/>
          <p:cNvCxnSpPr>
            <a:stCxn id="531" idx="3"/>
            <a:endCxn id="534" idx="1"/>
          </p:cNvCxnSpPr>
          <p:nvPr/>
        </p:nvCxnSpPr>
        <p:spPr>
          <a:xfrm>
            <a:off x="3610074" y="2571750"/>
            <a:ext cx="1455000" cy="11202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74"/>
          <p:cNvSpPr txBox="1"/>
          <p:nvPr>
            <p:ph type="title"/>
          </p:nvPr>
        </p:nvSpPr>
        <p:spPr>
          <a:xfrm>
            <a:off x="391150" y="581450"/>
            <a:ext cx="3149100" cy="2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Hepta Slab"/>
                <a:ea typeface="Hepta Slab"/>
                <a:cs typeface="Hepta Slab"/>
                <a:sym typeface="Hepta Slab"/>
              </a:rPr>
              <a:t>Review </a:t>
            </a:r>
            <a:r>
              <a:rPr b="1" lang="en" sz="2000">
                <a:latin typeface="Hepta Slab"/>
                <a:ea typeface="Hepta Slab"/>
                <a:cs typeface="Hepta Slab"/>
                <a:sym typeface="Hepta Slab"/>
              </a:rPr>
              <a:t>Page</a:t>
            </a:r>
            <a:endParaRPr b="1" sz="2000">
              <a:latin typeface="Hepta Slab"/>
              <a:ea typeface="Hepta Slab"/>
              <a:cs typeface="Hepta Slab"/>
              <a:sym typeface="Hepta Sla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5"/>
          <p:cNvSpPr txBox="1"/>
          <p:nvPr>
            <p:ph type="title"/>
          </p:nvPr>
        </p:nvSpPr>
        <p:spPr>
          <a:xfrm>
            <a:off x="535250" y="1379475"/>
            <a:ext cx="64806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Sentiment Analysis for IMDb Movie Review Using Support Vector Machine (SVM) Method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3"/>
              </a:rPr>
              <a:t>https://rb.gy/ofdnmr</a:t>
            </a:r>
            <a:endParaRPr sz="1000"/>
          </a:p>
        </p:txBody>
      </p:sp>
      <p:sp>
        <p:nvSpPr>
          <p:cNvPr id="542" name="Google Shape;542;p75"/>
          <p:cNvSpPr txBox="1"/>
          <p:nvPr>
            <p:ph type="title"/>
          </p:nvPr>
        </p:nvSpPr>
        <p:spPr>
          <a:xfrm>
            <a:off x="535250" y="2134100"/>
            <a:ext cx="64806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Analysis Sentiment based on IMDB aspects from movie reviews using SVM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4"/>
              </a:rPr>
              <a:t>https://rb.gy/8oehvg</a:t>
            </a:r>
            <a:endParaRPr sz="1000"/>
          </a:p>
        </p:txBody>
      </p:sp>
      <p:sp>
        <p:nvSpPr>
          <p:cNvPr id="543" name="Google Shape;543;p75"/>
          <p:cNvSpPr txBox="1"/>
          <p:nvPr>
            <p:ph type="title"/>
          </p:nvPr>
        </p:nvSpPr>
        <p:spPr>
          <a:xfrm>
            <a:off x="535250" y="2779750"/>
            <a:ext cx="6480600" cy="6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/>
              <a:t>Performance Study of N-grams in the Analysis of Sentiments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https://rb.gy/33g01a</a:t>
            </a:r>
            <a:endParaRPr sz="1000"/>
          </a:p>
        </p:txBody>
      </p:sp>
      <p:sp>
        <p:nvSpPr>
          <p:cNvPr id="544" name="Google Shape;544;p75"/>
          <p:cNvSpPr txBox="1"/>
          <p:nvPr>
            <p:ph type="title"/>
          </p:nvPr>
        </p:nvSpPr>
        <p:spPr>
          <a:xfrm>
            <a:off x="535250" y="3543800"/>
            <a:ext cx="6480600" cy="5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1000"/>
              <a:t>Deep Learning with Python by François Chollet</a:t>
            </a:r>
            <a:endParaRPr sz="10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6"/>
              </a:rPr>
              <a:t>https://rb.gy/skvk2a</a:t>
            </a:r>
            <a:endParaRPr sz="1000"/>
          </a:p>
        </p:txBody>
      </p:sp>
      <p:sp>
        <p:nvSpPr>
          <p:cNvPr id="545" name="Google Shape;545;p75"/>
          <p:cNvSpPr txBox="1"/>
          <p:nvPr>
            <p:ph type="title"/>
          </p:nvPr>
        </p:nvSpPr>
        <p:spPr>
          <a:xfrm>
            <a:off x="1753350" y="353600"/>
            <a:ext cx="5637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Bibliography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